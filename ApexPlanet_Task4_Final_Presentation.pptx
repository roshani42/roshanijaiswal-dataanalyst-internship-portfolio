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Furniture</c:v>
                </c:pt>
                <c:pt idx="3">
                  <c:v>Fashion</c:v>
                </c:pt>
                <c:pt idx="4">
                  <c:v>Grocery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354</c:v>
                </c:pt>
                <c:pt idx="1">
                  <c:v>178</c:v>
                </c:pt>
                <c:pt idx="2">
                  <c:v>159</c:v>
                </c:pt>
                <c:pt idx="3">
                  <c:v>156</c:v>
                </c:pt>
                <c:pt idx="4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79-4C6F-BA1E-CAD3E2835E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B575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Low Value</c:v>
                </c:pt>
                <c:pt idx="1">
                  <c:v>Medium Value</c:v>
                </c:pt>
                <c:pt idx="2">
                  <c:v>High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10371392.73</c:v>
                </c:pt>
                <c:pt idx="1">
                  <c:v>36663823.450000003</c:v>
                </c:pt>
                <c:pt idx="2">
                  <c:v>92364223.469999999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DD-4B69-9C71-7981AE41B7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2F6FE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6FED"/>
              </a:solidFill>
              <a:ln w="9525" cap="flat">
                <a:solidFill>
                  <a:srgbClr val="2F6FE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10905580.720000001</c:v>
                </c:pt>
                <c:pt idx="1">
                  <c:v>11511181.460000001</c:v>
                </c:pt>
                <c:pt idx="2">
                  <c:v>13059899.939999999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12912332.640000001</c:v>
                </c:pt>
                <c:pt idx="6">
                  <c:v>11746226.800000001</c:v>
                </c:pt>
                <c:pt idx="7">
                  <c:v>9448471.2200000007</c:v>
                </c:pt>
                <c:pt idx="8">
                  <c:v>9179896.2899999991</c:v>
                </c:pt>
                <c:pt idx="9">
                  <c:v>12500936.5</c:v>
                </c:pt>
                <c:pt idx="10">
                  <c:v>12627620.220000001</c:v>
                </c:pt>
                <c:pt idx="11">
                  <c:v>12299904.439999999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7F-4625-A8A4-CF18655CC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29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Sales Data: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D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Business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8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Analytics Internship Journey — Tasks 1 to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Roshani Jaiswal  |  ApexPlanet Software Pvt. Ltd.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transform a raw, unstructured sales dataset into clean, actionable business intelligence — uncovering patterns, validating assumptions statistically, and recommending concrete next steps.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transactions analyzed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8346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Fields, including 3 engineered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8346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2104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analysis phases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Started: A Messy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 missing Age values, 13 missing City values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8 Order_IDs mistakenly reused across 9 separate real transactions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Inconsistent text formatting and date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Action taken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 deduplicated, and standardized the full dataset — zero data quality issues remaining, ready for analysis.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Here: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46304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pandas — cleaning, deduplication, feature engineering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46304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stats, SQL queries, correlation &amp; multivariate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14630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&amp;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+ interactive Power BI dashboard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95560" y="1463040"/>
            <a:ext cx="457200" cy="457200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5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61120" y="21031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Storytelling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2697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 (T-test) + this final business narrative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1: Electronics Dominates by Volume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1645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354 orders — more than double any other category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0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Leads every single quarter of the year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But does it also lead in order value...?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2: Category Doesn't Predict Order Value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“Electronics has a significantly higher average order value than Grocery”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AVG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₹1,43,442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 AVG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₹1,45,305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0.868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Fail to reject H0 — no statistically significant difference (p ≫ 0.05)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takeaway: Category choice should drive volume strategy, not value-based assumptions. Electronics and Grocery customers spend statistically the same amount per order.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3: Customer Value Beats Customer Volume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1554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 Value (316 customers): ₹92.4M revenue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232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Medium Value (315 customers): ₹36.7M revenue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Low Value (316 customers): ₹10.4M revenue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0" y="3886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 Value customers generate 9x more revenue than Low Value — despite placing only slightly more orders.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4: Where and When Revenue Concentrates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Mumbai leads all cities in total revenue (₹18.7M)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06640" y="2560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Revenue peaks in March and June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06640" y="3383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Notable dip in August–September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the Business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High Value customers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loyalty/account program here protects a disproportionate share of revenue.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assume category drives value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20574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Electronics for volume campaigns, not premium pricing assumptions.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49040"/>
            <a:ext cx="320040" cy="3200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Aug–Sep dip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promotions to smooth the seasonal revenue dip.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474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74904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top cities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regional marketing investment on Mumbai and other leading cities.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Action: Next 30 Days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High-Value customer loyalty pilot targeting the top spending segment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a promotional campaign timed for the August–September revenue dip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576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6576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 a portion of marketing budget toward Mumbai and top 3 performing cities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7091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7091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7091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5 core KPIs (Revenue, AOV, Category Share, City Revenue, Age Group Orders) on the live Power BI dashboard monthly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It to Life: Interactive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Power BI dashboard tracks the core KPIs in real time, with live filters for Age Group and City so stakeholders can explore the data themselves.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link: https://app.powerbi.com/groups/me/reports/18286ada-9bda-44a0-ad66-0b683906c637/0f63c2e9f205bb1f7dce?experience=power-bi</a:t>
            </a:r>
          </a:p>
          <a:p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Internship  |  11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CBCE59-1720-ACD2-0BF6-FF4139E13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5999"/>
            <a:ext cx="11247120" cy="32461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D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[Roshani Jaiswal]  |  [https://www.linkedin.com/in/roshani-jaiswal-553b01428]  |  [https://github.com/Roshani42]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698</Words>
  <Application>Microsoft Office PowerPoint</Application>
  <PresentationFormat>Widescreen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JAISWAL.. 💖🤍</cp:lastModifiedBy>
  <cp:revision>3</cp:revision>
  <dcterms:created xsi:type="dcterms:W3CDTF">2026-09-12T06:58:24Z</dcterms:created>
  <dcterms:modified xsi:type="dcterms:W3CDTF">2026-09-12T07:39:26Z</dcterms:modified>
</cp:coreProperties>
</file>